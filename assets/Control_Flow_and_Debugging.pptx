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2" r:id="rId2"/>
    <p:sldId id="258" r:id="rId3"/>
    <p:sldId id="312" r:id="rId4"/>
    <p:sldId id="311" r:id="rId5"/>
    <p:sldId id="277" r:id="rId6"/>
    <p:sldId id="306" r:id="rId7"/>
    <p:sldId id="315" r:id="rId8"/>
    <p:sldId id="316" r:id="rId9"/>
    <p:sldId id="27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0D1A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7"/>
    <p:restoredTop sz="78125" autoAdjust="0"/>
  </p:normalViewPr>
  <p:slideViewPr>
    <p:cSldViewPr>
      <p:cViewPr varScale="1">
        <p:scale>
          <a:sx n="66" d="100"/>
          <a:sy n="66" d="100"/>
        </p:scale>
        <p:origin x="27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4FB44-D9BB-4AE5-A1A8-90C00510A7C0}" type="datetimeFigureOut">
              <a:rPr lang="en-US" smtClean="0"/>
              <a:pPr/>
              <a:t>9/7/23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D4BF9-4F82-4169-95B0-797E1744D4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73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D4BF9-4F82-4169-95B0-797E1744D4A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87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D4BF9-4F82-4169-95B0-797E1744D4A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43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rgbClr val="720D1A"/>
                </a:solidFill>
                <a:latin typeface="Georgia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480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522S – Advanced Operating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52400" y="5715000"/>
            <a:ext cx="9448800" cy="12954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8FED50-267D-B443-A7AA-B339A342C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715000"/>
            <a:ext cx="4572000" cy="1143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79DD94B-0DCD-3C40-BE69-A91B453E9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315E86F-FC5C-AC42-95F4-FD8CC6166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6718C36-2C42-764C-9239-EAD1007D2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4D5D6AD-D8AE-E849-ADBF-3069989D83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0AED7A-B2BF-EC46-B6A9-62E02D1FD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84A28-CBF1-2E4A-84B4-5EE7495E2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422S –Operating Systems Organization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422S –Operating Systems Organization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422S –Operating Systems Organization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422S –Operating Systems Organization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BFBFBF"/>
                </a:solidFill>
              </a:defRPr>
            </a:lvl1pPr>
          </a:lstStyle>
          <a:p>
            <a:fld id="{A773B20C-5347-4FF9-A9F0-76F937F6021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5F4596-CC02-7E4D-91EF-02993D1FB4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00"/>
            <a:ext cx="3429000" cy="8572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Georg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0800"/>
            <a:ext cx="9144000" cy="2015254"/>
          </a:xfrm>
        </p:spPr>
        <p:txBody>
          <a:bodyPr>
            <a:noAutofit/>
          </a:bodyPr>
          <a:lstStyle/>
          <a:p>
            <a:r>
              <a:rPr lang="en-US" sz="3600" dirty="0"/>
              <a:t>E81 CSE 428S:</a:t>
            </a:r>
            <a:br>
              <a:rPr lang="en-US" sz="3600" dirty="0"/>
            </a:br>
            <a:r>
              <a:rPr lang="en-US" sz="3600" dirty="0"/>
              <a:t>Multi-Paradigm Programming in </a:t>
            </a:r>
            <a:r>
              <a:rPr lang="en-US" sz="3600"/>
              <a:t>C++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3497213"/>
            <a:ext cx="7696200" cy="990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Department of Computer Science &amp; Engineering</a:t>
            </a:r>
          </a:p>
          <a:p>
            <a:r>
              <a:rPr lang="en-US" sz="2400" dirty="0">
                <a:solidFill>
                  <a:schemeClr val="tx1"/>
                </a:solidFill>
              </a:rPr>
              <a:t>Washington University, St. Louis MO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6F77C-E162-431C-A3B9-21DE8B223950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0" y="4597207"/>
            <a:ext cx="9144000" cy="1058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Chris Gill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cdgill@wustl.edu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B7E5E1-7354-BC27-D45E-A7C8B4432169}"/>
              </a:ext>
            </a:extLst>
          </p:cNvPr>
          <p:cNvSpPr txBox="1">
            <a:spLocks/>
          </p:cNvSpPr>
          <p:nvPr/>
        </p:nvSpPr>
        <p:spPr>
          <a:xfrm>
            <a:off x="33869" y="1642532"/>
            <a:ext cx="9144000" cy="2015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720D1A"/>
                </a:solidFill>
                <a:latin typeface="Georgia" pitchFamily="18" charset="0"/>
                <a:ea typeface="+mj-ea"/>
                <a:cs typeface="+mj-cs"/>
              </a:defRPr>
            </a:lvl1pPr>
          </a:lstStyle>
          <a:p>
            <a:r>
              <a:rPr lang="en-US" sz="3600" dirty="0"/>
              <a:t>Control Flow and Debugging</a:t>
            </a:r>
          </a:p>
        </p:txBody>
      </p:sp>
    </p:spTree>
    <p:extLst>
      <p:ext uri="{BB962C8B-B14F-4D97-AF65-F5344CB8AC3E}">
        <p14:creationId xmlns:p14="http://schemas.microsoft.com/office/powerpoint/2010/main" val="180616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20D1A"/>
                </a:solidFill>
              </a:rPr>
              <a:t>Control Flow Modifies State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213350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120000"/>
              </a:lnSpc>
            </a:pPr>
            <a:r>
              <a:rPr lang="en-US" sz="3400" dirty="0"/>
              <a:t>Statements in the code are reached and run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Some of them (e.g., operators, etc.) modify state</a:t>
            </a:r>
          </a:p>
          <a:p>
            <a:pPr marL="457200" indent="-457200">
              <a:lnSpc>
                <a:spcPct val="120000"/>
              </a:lnSpc>
            </a:pPr>
            <a:r>
              <a:rPr lang="en-US" sz="3400" dirty="0"/>
              <a:t>Logic determines which statements are run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800" dirty="0"/>
              <a:t>And the order in which they are executed</a:t>
            </a:r>
          </a:p>
          <a:p>
            <a:pPr marL="457200" indent="-457200">
              <a:lnSpc>
                <a:spcPct val="120000"/>
              </a:lnSpc>
            </a:pPr>
            <a:r>
              <a:rPr lang="en-US" sz="3400" dirty="0"/>
              <a:t>Operator precedence complicates this too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E.g., postfix vs. prefix increment/decrement</a:t>
            </a:r>
          </a:p>
          <a:p>
            <a:pPr marL="457200" indent="-457200">
              <a:lnSpc>
                <a:spcPct val="120000"/>
              </a:lnSpc>
            </a:pPr>
            <a:r>
              <a:rPr lang="en-US" sz="3400" dirty="0"/>
              <a:t>Look at what has been (or will be) changed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May need to </a:t>
            </a:r>
            <a:r>
              <a:rPr lang="en-US" sz="2900" b="1" i="1" dirty="0"/>
              <a:t>trace</a:t>
            </a:r>
            <a:r>
              <a:rPr lang="en-US" sz="2900" dirty="0"/>
              <a:t> execution, </a:t>
            </a:r>
            <a:r>
              <a:rPr lang="en-US" sz="2900" b="1" i="1" dirty="0"/>
              <a:t>watch</a:t>
            </a:r>
            <a:r>
              <a:rPr lang="en-US" sz="2900" dirty="0"/>
              <a:t> state values in a debugger like </a:t>
            </a:r>
            <a:r>
              <a:rPr lang="en-US" sz="2900" b="1" dirty="0" err="1">
                <a:latin typeface="Courier" pitchFamily="2" charset="0"/>
              </a:rPr>
              <a:t>gdb</a:t>
            </a:r>
            <a:r>
              <a:rPr lang="en-US" sz="2900" dirty="0"/>
              <a:t> (compile with </a:t>
            </a:r>
            <a:r>
              <a:rPr lang="en-US" sz="2900" b="1" dirty="0">
                <a:latin typeface="Courier" pitchFamily="2" charset="0"/>
              </a:rPr>
              <a:t>–g</a:t>
            </a:r>
            <a:r>
              <a:rPr lang="en-US" sz="2900" dirty="0"/>
              <a:t> in </a:t>
            </a:r>
            <a:r>
              <a:rPr lang="en-US" sz="2900" b="1" dirty="0">
                <a:latin typeface="Courier" pitchFamily="2" charset="0"/>
              </a:rPr>
              <a:t>g++</a:t>
            </a:r>
            <a:r>
              <a:rPr lang="en-US" sz="2900" dirty="0"/>
              <a:t>)</a:t>
            </a:r>
          </a:p>
        </p:txBody>
      </p:sp>
      <p:sp>
        <p:nvSpPr>
          <p:cNvPr id="49" name="Footer Placeholder 48"/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276600" cy="501650"/>
          </a:xfrm>
        </p:spPr>
        <p:txBody>
          <a:bodyPr/>
          <a:lstStyle/>
          <a:p>
            <a:r>
              <a:rPr lang="en-US" dirty="0"/>
              <a:t>CSE 428S – Multi-Paradigm Programming  in C++</a:t>
            </a:r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8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FF970C80-0451-059B-10B4-482319D79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9530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/>
              <a:t>When your program crashes</a:t>
            </a:r>
          </a:p>
          <a:p>
            <a:pPr lvl="1" eaLnBrk="1" hangingPunct="1"/>
            <a:r>
              <a:rPr lang="en-US" altLang="en-US" dirty="0"/>
              <a:t>Due to a segmentation fault or floating point error</a:t>
            </a:r>
          </a:p>
          <a:p>
            <a:pPr lvl="1"/>
            <a:r>
              <a:rPr lang="en-US" altLang="en-US" dirty="0"/>
              <a:t>If it had permission to write a </a:t>
            </a:r>
            <a:r>
              <a:rPr lang="en-US" altLang="en-US" b="1" dirty="0">
                <a:latin typeface="Courier" pitchFamily="2" charset="0"/>
              </a:rPr>
              <a:t>core</a:t>
            </a:r>
            <a:r>
              <a:rPr lang="en-US" altLang="en-US" dirty="0"/>
              <a:t> file, you can examine program state (core memory) at that point</a:t>
            </a:r>
          </a:p>
          <a:p>
            <a:pPr lvl="1"/>
            <a:endParaRPr lang="en-US" altLang="en-US" dirty="0"/>
          </a:p>
          <a:p>
            <a:pPr eaLnBrk="1" hangingPunct="1"/>
            <a:r>
              <a:rPr lang="en-US" altLang="en-US" dirty="0"/>
              <a:t>When a bug occurs in your program</a:t>
            </a:r>
          </a:p>
          <a:p>
            <a:pPr lvl="1" eaLnBrk="1" hangingPunct="1"/>
            <a:r>
              <a:rPr lang="en-US" altLang="en-US" dirty="0"/>
              <a:t>Watching program variables </a:t>
            </a:r>
          </a:p>
          <a:p>
            <a:pPr lvl="1" eaLnBrk="1" hangingPunct="1"/>
            <a:r>
              <a:rPr lang="en-US" altLang="en-US" dirty="0"/>
              <a:t>Identifying where a problem occurs (and why)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Tracing through a program’s behaviors</a:t>
            </a:r>
          </a:p>
          <a:p>
            <a:pPr lvl="1" eaLnBrk="1" hangingPunct="1"/>
            <a:r>
              <a:rPr lang="en-US" altLang="en-US" dirty="0"/>
              <a:t>Learning what a program does</a:t>
            </a:r>
          </a:p>
          <a:p>
            <a:pPr lvl="1" eaLnBrk="1" hangingPunct="1"/>
            <a:r>
              <a:rPr lang="en-US" altLang="en-US" dirty="0"/>
              <a:t>Good basic testing approach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3F2E06-5D61-AD80-B018-4DF12ABB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20D1A"/>
                </a:solidFill>
              </a:rPr>
              <a:t>Why Debug a Program?</a:t>
            </a:r>
          </a:p>
        </p:txBody>
      </p:sp>
      <p:sp>
        <p:nvSpPr>
          <p:cNvPr id="3" name="Footer Placeholder 48">
            <a:extLst>
              <a:ext uri="{FF2B5EF4-FFF2-40B4-BE49-F238E27FC236}">
                <a16:creationId xmlns:a16="http://schemas.microsoft.com/office/drawing/2014/main" id="{B8E6A45F-22E5-BAA7-398B-A86307FCC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276600" cy="501650"/>
          </a:xfrm>
        </p:spPr>
        <p:txBody>
          <a:bodyPr/>
          <a:lstStyle/>
          <a:p>
            <a:r>
              <a:rPr lang="en-US" dirty="0"/>
              <a:t>CSE 428S – Multi-Paradigm Programming  in C++</a:t>
            </a:r>
          </a:p>
        </p:txBody>
      </p:sp>
      <p:sp>
        <p:nvSpPr>
          <p:cNvPr id="5" name="Slide Number Placeholder 47">
            <a:extLst>
              <a:ext uri="{FF2B5EF4-FFF2-40B4-BE49-F238E27FC236}">
                <a16:creationId xmlns:a16="http://schemas.microsoft.com/office/drawing/2014/main" id="{E7C369E2-0E37-A8B9-3FC4-DCD68674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773B20C-5347-4FF9-A9F0-76F937F6021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A7BE40DC-8346-7886-F0A3-232AAC1BE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066800"/>
            <a:ext cx="8991600" cy="51054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 debugger helps us observe a program’s behavior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Step through (and into)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Watching the call stack and variable values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But, before we start using the fancy tools…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What do we expect the program to do?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How might the program fail?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Can we make predictions and test them?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rgbClr val="0070C0"/>
                </a:solidFill>
              </a:rPr>
              <a:t>Thinking: the most powerful way to debug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70C0"/>
                </a:solidFill>
              </a:rPr>
              <a:t>Scientific method should guide what you do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hypothesis, prediction, experiment, analysis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The tools </a:t>
            </a:r>
            <a:r>
              <a:rPr lang="en-US" altLang="en-US" sz="2400" dirty="0">
                <a:solidFill>
                  <a:srgbClr val="0070C0"/>
                </a:solidFill>
              </a:rPr>
              <a:t>help you follow this disciplined approach faster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D2C352-90F0-D2B1-537E-44742138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20D1A"/>
                </a:solidFill>
              </a:rPr>
              <a:t>How to Debug a Program</a:t>
            </a:r>
          </a:p>
        </p:txBody>
      </p:sp>
      <p:sp>
        <p:nvSpPr>
          <p:cNvPr id="2" name="Footer Placeholder 48">
            <a:extLst>
              <a:ext uri="{FF2B5EF4-FFF2-40B4-BE49-F238E27FC236}">
                <a16:creationId xmlns:a16="http://schemas.microsoft.com/office/drawing/2014/main" id="{7F2708CC-BE63-F54E-B2C7-0F06F152D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276600" cy="501650"/>
          </a:xfrm>
        </p:spPr>
        <p:txBody>
          <a:bodyPr/>
          <a:lstStyle/>
          <a:p>
            <a:r>
              <a:rPr lang="en-US" dirty="0"/>
              <a:t>CSE 428S – Multi-Paradigm Programming  in C++</a:t>
            </a:r>
          </a:p>
        </p:txBody>
      </p:sp>
      <p:sp>
        <p:nvSpPr>
          <p:cNvPr id="3" name="Slide Number Placeholder 47">
            <a:extLst>
              <a:ext uri="{FF2B5EF4-FFF2-40B4-BE49-F238E27FC236}">
                <a16:creationId xmlns:a16="http://schemas.microsoft.com/office/drawing/2014/main" id="{811479F7-50C8-34AE-6E80-67A20788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773B20C-5347-4FF9-A9F0-76F937F6021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D245824F-136C-346D-D365-204D3D795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9067800" cy="3505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Called with command line arguments</a:t>
            </a:r>
          </a:p>
          <a:p>
            <a:pPr lvl="1" eaLnBrk="1" hangingPunct="1">
              <a:buFontTx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./studio3 + 8 + 9 10</a:t>
            </a:r>
          </a:p>
          <a:p>
            <a:pPr eaLnBrk="1" hangingPunct="1"/>
            <a:r>
              <a:rPr lang="en-US" altLang="en-US" sz="2800" dirty="0"/>
              <a:t>Calculates prefix addition expressions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+  8 + 9 10                        + + 8 9 10</a:t>
            </a:r>
          </a:p>
          <a:p>
            <a:pPr eaLnBrk="1" hangingPunct="1"/>
            <a:r>
              <a:rPr lang="en-US" altLang="en-US" sz="2800" dirty="0"/>
              <a:t>These are equivalent to their infix versions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(8 + (9 + 10))                        ((8 + 9) + 10)</a:t>
            </a:r>
          </a:p>
          <a:p>
            <a:pPr eaLnBrk="1" hangingPunct="1"/>
            <a:r>
              <a:rPr lang="en-US" altLang="en-US" sz="2800" dirty="0"/>
              <a:t>Key idea: </a:t>
            </a:r>
            <a:r>
              <a:rPr lang="en-US" altLang="en-US" dirty="0"/>
              <a:t>traverse</a:t>
            </a:r>
            <a:r>
              <a:rPr lang="en-US" altLang="en-US" sz="2800" dirty="0"/>
              <a:t> expression, calculate value</a:t>
            </a:r>
          </a:p>
          <a:p>
            <a:pPr lvl="1" eaLnBrk="1" hangingPunct="1">
              <a:buFontTx/>
              <a:buNone/>
            </a:pPr>
            <a:endParaRPr lang="en-US" altLang="en-US" sz="2400" dirty="0"/>
          </a:p>
          <a:p>
            <a:pPr lvl="1" eaLnBrk="1" hangingPunct="1">
              <a:buFontTx/>
              <a:buNone/>
            </a:pPr>
            <a:endParaRPr lang="en-US" altLang="en-US" sz="2400" dirty="0"/>
          </a:p>
        </p:txBody>
      </p:sp>
      <p:sp>
        <p:nvSpPr>
          <p:cNvPr id="7172" name="Oval 4">
            <a:extLst>
              <a:ext uri="{FF2B5EF4-FFF2-40B4-BE49-F238E27FC236}">
                <a16:creationId xmlns:a16="http://schemas.microsoft.com/office/drawing/2014/main" id="{1D0910FF-FFB2-5BB6-B2CF-524E3F6E1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4196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+</a:t>
            </a:r>
          </a:p>
        </p:txBody>
      </p:sp>
      <p:sp>
        <p:nvSpPr>
          <p:cNvPr id="7173" name="Oval 6">
            <a:extLst>
              <a:ext uri="{FF2B5EF4-FFF2-40B4-BE49-F238E27FC236}">
                <a16:creationId xmlns:a16="http://schemas.microsoft.com/office/drawing/2014/main" id="{88F56710-CB83-19A1-6425-2A2222401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0292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+</a:t>
            </a:r>
          </a:p>
        </p:txBody>
      </p:sp>
      <p:sp>
        <p:nvSpPr>
          <p:cNvPr id="7174" name="Oval 7">
            <a:extLst>
              <a:ext uri="{FF2B5EF4-FFF2-40B4-BE49-F238E27FC236}">
                <a16:creationId xmlns:a16="http://schemas.microsoft.com/office/drawing/2014/main" id="{6F7A15DA-B848-F005-704B-58A5DADB1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0292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7175" name="Oval 8">
            <a:extLst>
              <a:ext uri="{FF2B5EF4-FFF2-40B4-BE49-F238E27FC236}">
                <a16:creationId xmlns:a16="http://schemas.microsoft.com/office/drawing/2014/main" id="{3B642339-5DF3-2ECD-D55B-8DAC60108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6388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7176" name="Oval 9">
            <a:extLst>
              <a:ext uri="{FF2B5EF4-FFF2-40B4-BE49-F238E27FC236}">
                <a16:creationId xmlns:a16="http://schemas.microsoft.com/office/drawing/2014/main" id="{A4EB929E-730E-0422-7898-22F781293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7150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7177" name="Line 10">
            <a:extLst>
              <a:ext uri="{FF2B5EF4-FFF2-40B4-BE49-F238E27FC236}">
                <a16:creationId xmlns:a16="http://schemas.microsoft.com/office/drawing/2014/main" id="{1233CDAF-8D3B-C462-AE93-BB48F53D07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8006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Line 11">
            <a:extLst>
              <a:ext uri="{FF2B5EF4-FFF2-40B4-BE49-F238E27FC236}">
                <a16:creationId xmlns:a16="http://schemas.microsoft.com/office/drawing/2014/main" id="{412D1C73-DD4C-F08E-B9BF-3FB796761DF8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057400" y="48006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" name="Line 12">
            <a:extLst>
              <a:ext uri="{FF2B5EF4-FFF2-40B4-BE49-F238E27FC236}">
                <a16:creationId xmlns:a16="http://schemas.microsoft.com/office/drawing/2014/main" id="{2DC1517A-DAB9-9AA3-FEA8-A5B59E98BD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54102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Line 13">
            <a:extLst>
              <a:ext uri="{FF2B5EF4-FFF2-40B4-BE49-F238E27FC236}">
                <a16:creationId xmlns:a16="http://schemas.microsoft.com/office/drawing/2014/main" id="{C09496B7-5508-9966-FC92-863C8E2640EB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743200" y="54102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Line 14">
            <a:extLst>
              <a:ext uri="{FF2B5EF4-FFF2-40B4-BE49-F238E27FC236}">
                <a16:creationId xmlns:a16="http://schemas.microsoft.com/office/drawing/2014/main" id="{7D176BB5-BC07-ED5F-3305-76F127EBBC2D}"/>
              </a:ext>
            </a:extLst>
          </p:cNvPr>
          <p:cNvSpPr>
            <a:spLocks noChangeShapeType="1"/>
          </p:cNvSpPr>
          <p:nvPr/>
        </p:nvSpPr>
        <p:spPr bwMode="auto">
          <a:xfrm rot="18900000" flipH="1">
            <a:off x="1676400" y="40386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Text Box 15">
            <a:extLst>
              <a:ext uri="{FF2B5EF4-FFF2-40B4-BE49-F238E27FC236}">
                <a16:creationId xmlns:a16="http://schemas.microsoft.com/office/drawing/2014/main" id="{ABBA9BF1-9E30-9280-16C9-676BE868A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862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7183" name="Text Box 16">
            <a:extLst>
              <a:ext uri="{FF2B5EF4-FFF2-40B4-BE49-F238E27FC236}">
                <a16:creationId xmlns:a16="http://schemas.microsoft.com/office/drawing/2014/main" id="{4D2CEC5E-F2F9-37CF-4C8D-387751161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4958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7184" name="Text Box 17">
            <a:extLst>
              <a:ext uri="{FF2B5EF4-FFF2-40B4-BE49-F238E27FC236}">
                <a16:creationId xmlns:a16="http://schemas.microsoft.com/office/drawing/2014/main" id="{A9724326-1F95-B6CF-FF17-829DC5BE6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4958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7185" name="Text Box 18">
            <a:extLst>
              <a:ext uri="{FF2B5EF4-FFF2-40B4-BE49-F238E27FC236}">
                <a16:creationId xmlns:a16="http://schemas.microsoft.com/office/drawing/2014/main" id="{6DE49600-7EB2-1D89-CDA4-A1642A169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1816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7186" name="Text Box 19">
            <a:extLst>
              <a:ext uri="{FF2B5EF4-FFF2-40B4-BE49-F238E27FC236}">
                <a16:creationId xmlns:a16="http://schemas.microsoft.com/office/drawing/2014/main" id="{8AE039A3-82CD-A503-F5E9-5633AA4F7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6088" y="5181600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7187" name="Oval 20">
            <a:extLst>
              <a:ext uri="{FF2B5EF4-FFF2-40B4-BE49-F238E27FC236}">
                <a16:creationId xmlns:a16="http://schemas.microsoft.com/office/drawing/2014/main" id="{53DA3FA2-BA74-8783-B5F9-2587ECDE1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4196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+</a:t>
            </a:r>
          </a:p>
        </p:txBody>
      </p:sp>
      <p:sp>
        <p:nvSpPr>
          <p:cNvPr id="7188" name="Oval 21">
            <a:extLst>
              <a:ext uri="{FF2B5EF4-FFF2-40B4-BE49-F238E27FC236}">
                <a16:creationId xmlns:a16="http://schemas.microsoft.com/office/drawing/2014/main" id="{2A5802F0-02FB-28F3-F321-7492EA6FC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0292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+</a:t>
            </a:r>
          </a:p>
        </p:txBody>
      </p:sp>
      <p:sp>
        <p:nvSpPr>
          <p:cNvPr id="7189" name="Oval 22">
            <a:extLst>
              <a:ext uri="{FF2B5EF4-FFF2-40B4-BE49-F238E27FC236}">
                <a16:creationId xmlns:a16="http://schemas.microsoft.com/office/drawing/2014/main" id="{DC0794E1-D61A-2AD6-878B-8F321F28C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6388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7190" name="Oval 23">
            <a:extLst>
              <a:ext uri="{FF2B5EF4-FFF2-40B4-BE49-F238E27FC236}">
                <a16:creationId xmlns:a16="http://schemas.microsoft.com/office/drawing/2014/main" id="{5E4C317A-116A-F3E8-817C-DAB3E3B49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7150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7191" name="Oval 24">
            <a:extLst>
              <a:ext uri="{FF2B5EF4-FFF2-40B4-BE49-F238E27FC236}">
                <a16:creationId xmlns:a16="http://schemas.microsoft.com/office/drawing/2014/main" id="{531EC951-CE5D-B434-6C8F-9BE3760D0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0292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7192" name="Line 25">
            <a:extLst>
              <a:ext uri="{FF2B5EF4-FFF2-40B4-BE49-F238E27FC236}">
                <a16:creationId xmlns:a16="http://schemas.microsoft.com/office/drawing/2014/main" id="{BFBDBDFB-53AD-CCBE-7F56-99BFF29085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48006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3" name="Line 26">
            <a:extLst>
              <a:ext uri="{FF2B5EF4-FFF2-40B4-BE49-F238E27FC236}">
                <a16:creationId xmlns:a16="http://schemas.microsoft.com/office/drawing/2014/main" id="{5A9CC7FB-EA1D-9BC3-9885-541866112222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6019800" y="54102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4" name="Line 27">
            <a:extLst>
              <a:ext uri="{FF2B5EF4-FFF2-40B4-BE49-F238E27FC236}">
                <a16:creationId xmlns:a16="http://schemas.microsoft.com/office/drawing/2014/main" id="{23458A9A-A436-A5EC-A57C-0F610045E4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54102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5" name="Line 28">
            <a:extLst>
              <a:ext uri="{FF2B5EF4-FFF2-40B4-BE49-F238E27FC236}">
                <a16:creationId xmlns:a16="http://schemas.microsoft.com/office/drawing/2014/main" id="{EBE8C185-CCDF-9BC4-7FDF-FDB6423B4EEF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6705600" y="48006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6" name="Line 29">
            <a:extLst>
              <a:ext uri="{FF2B5EF4-FFF2-40B4-BE49-F238E27FC236}">
                <a16:creationId xmlns:a16="http://schemas.microsoft.com/office/drawing/2014/main" id="{3EBBD954-60C0-4662-EC31-0AE18362F1A4}"/>
              </a:ext>
            </a:extLst>
          </p:cNvPr>
          <p:cNvSpPr>
            <a:spLocks noChangeShapeType="1"/>
          </p:cNvSpPr>
          <p:nvPr/>
        </p:nvSpPr>
        <p:spPr bwMode="auto">
          <a:xfrm rot="18900000" flipH="1">
            <a:off x="6324600" y="40386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7" name="Text Box 30">
            <a:extLst>
              <a:ext uri="{FF2B5EF4-FFF2-40B4-BE49-F238E27FC236}">
                <a16:creationId xmlns:a16="http://schemas.microsoft.com/office/drawing/2014/main" id="{85F274AF-3CF6-B384-CD69-BCC4BE610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8862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7198" name="Text Box 31">
            <a:extLst>
              <a:ext uri="{FF2B5EF4-FFF2-40B4-BE49-F238E27FC236}">
                <a16:creationId xmlns:a16="http://schemas.microsoft.com/office/drawing/2014/main" id="{1932BC9A-B7A4-90CF-B86D-DA049FD91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4958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7199" name="Text Box 32">
            <a:extLst>
              <a:ext uri="{FF2B5EF4-FFF2-40B4-BE49-F238E27FC236}">
                <a16:creationId xmlns:a16="http://schemas.microsoft.com/office/drawing/2014/main" id="{3765C479-B9EB-CB28-3BC3-A9A21CE62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9688" y="5181600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7200" name="Text Box 33">
            <a:extLst>
              <a:ext uri="{FF2B5EF4-FFF2-40B4-BE49-F238E27FC236}">
                <a16:creationId xmlns:a16="http://schemas.microsoft.com/office/drawing/2014/main" id="{D3759DD8-AC2E-5374-5F21-ACF1D5969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288" y="5181600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7201" name="Text Box 34">
            <a:extLst>
              <a:ext uri="{FF2B5EF4-FFF2-40B4-BE49-F238E27FC236}">
                <a16:creationId xmlns:a16="http://schemas.microsoft.com/office/drawing/2014/main" id="{2CC90B3A-51D3-1AFB-9F8D-4C96F15AE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5720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7202" name="AutoShape 35">
            <a:extLst>
              <a:ext uri="{FF2B5EF4-FFF2-40B4-BE49-F238E27FC236}">
                <a16:creationId xmlns:a16="http://schemas.microsoft.com/office/drawing/2014/main" id="{1245EC0B-9525-1FDC-BD56-CB44E4981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419600"/>
            <a:ext cx="1676400" cy="304800"/>
          </a:xfrm>
          <a:prstGeom prst="leftRightArrow">
            <a:avLst>
              <a:gd name="adj1" fmla="val 50000"/>
              <a:gd name="adj2" fmla="val 11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203" name="Text Box 36">
            <a:extLst>
              <a:ext uri="{FF2B5EF4-FFF2-40B4-BE49-F238E27FC236}">
                <a16:creationId xmlns:a16="http://schemas.microsoft.com/office/drawing/2014/main" id="{F12156F2-E055-01BB-2E03-354AAFED3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962400"/>
            <a:ext cx="2082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accent2"/>
                </a:solidFill>
                <a:latin typeface="Arial" panose="020B0604020202020204" pitchFamily="34" charset="0"/>
              </a:rPr>
              <a:t>same result</a:t>
            </a:r>
          </a:p>
          <a:p>
            <a:pPr algn="ctr" eaLnBrk="1" hangingPunct="1"/>
            <a:endParaRPr lang="en-US" altLang="en-US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>
                <a:solidFill>
                  <a:schemeClr val="accent2"/>
                </a:solidFill>
                <a:latin typeface="Arial" panose="020B0604020202020204" pitchFamily="34" charset="0"/>
              </a:rPr>
              <a:t>different order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BF1A726-F673-4310-315D-27009255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20D1A"/>
                </a:solidFill>
              </a:rPr>
              <a:t>An Example Program</a:t>
            </a:r>
          </a:p>
        </p:txBody>
      </p:sp>
      <p:sp>
        <p:nvSpPr>
          <p:cNvPr id="2" name="Footer Placeholder 48">
            <a:extLst>
              <a:ext uri="{FF2B5EF4-FFF2-40B4-BE49-F238E27FC236}">
                <a16:creationId xmlns:a16="http://schemas.microsoft.com/office/drawing/2014/main" id="{0823BA9E-6FD5-FF60-FC34-AB8AC6ED7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276600" cy="501650"/>
          </a:xfrm>
        </p:spPr>
        <p:txBody>
          <a:bodyPr/>
          <a:lstStyle/>
          <a:p>
            <a:r>
              <a:rPr lang="en-US" dirty="0"/>
              <a:t>CSE 428S – Multi-Paradigm Programming  in C++</a:t>
            </a:r>
          </a:p>
        </p:txBody>
      </p:sp>
      <p:sp>
        <p:nvSpPr>
          <p:cNvPr id="3" name="Slide Number Placeholder 47">
            <a:extLst>
              <a:ext uri="{FF2B5EF4-FFF2-40B4-BE49-F238E27FC236}">
                <a16:creationId xmlns:a16="http://schemas.microsoft.com/office/drawing/2014/main" id="{720D1B7D-C22B-9C32-EECF-9600C61A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773B20C-5347-4FF9-A9F0-76F937F6021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9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F40C1238-8B85-3EB5-5641-45F381074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9067800" cy="5715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Too few arguments in expression</a:t>
            </a:r>
          </a:p>
          <a:p>
            <a:pPr lvl="1" eaLnBrk="1" hangingPunct="1">
              <a:buFontTx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./</a:t>
            </a:r>
            <a:r>
              <a:rPr lang="en-US" altLang="en-US" b="1" dirty="0">
                <a:latin typeface="Courier New" panose="02070309020205020404" pitchFamily="49" charset="0"/>
              </a:rPr>
              <a:t>studio3</a:t>
            </a:r>
            <a:r>
              <a:rPr lang="en-US" altLang="en-US" sz="2400" b="1" dirty="0">
                <a:latin typeface="Courier New" panose="02070309020205020404" pitchFamily="49" charset="0"/>
              </a:rPr>
              <a:t> + 8 + 9</a:t>
            </a:r>
          </a:p>
          <a:p>
            <a:pPr eaLnBrk="1" hangingPunct="1"/>
            <a:r>
              <a:rPr lang="en-US" altLang="en-US" sz="2800" dirty="0"/>
              <a:t>Cannot calculate result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(needs another value to finish 2</a:t>
            </a:r>
            <a:r>
              <a:rPr lang="en-US" altLang="en-US" sz="2400" baseline="30000" dirty="0"/>
              <a:t>nd</a:t>
            </a:r>
            <a:r>
              <a:rPr lang="en-US" altLang="en-US" sz="2400" dirty="0"/>
              <a:t> + operation)</a:t>
            </a:r>
          </a:p>
          <a:p>
            <a:pPr lvl="1" eaLnBrk="1" hangingPunct="1">
              <a:buFontTx/>
              <a:buNone/>
            </a:pPr>
            <a:endParaRPr lang="en-US" altLang="en-US" sz="2400" dirty="0"/>
          </a:p>
          <a:p>
            <a:pPr lvl="1" eaLnBrk="1" hangingPunct="1">
              <a:buFontTx/>
              <a:buNone/>
            </a:pPr>
            <a:endParaRPr lang="en-US" altLang="en-US" sz="2400" dirty="0"/>
          </a:p>
          <a:p>
            <a:pPr lvl="1" eaLnBrk="1" hangingPunct="1">
              <a:buFontTx/>
              <a:buNone/>
            </a:pPr>
            <a:endParaRPr lang="en-US" altLang="en-US" sz="2400" dirty="0"/>
          </a:p>
          <a:p>
            <a:pPr lvl="1" eaLnBrk="1" hangingPunct="1">
              <a:buFontTx/>
              <a:buNone/>
            </a:pPr>
            <a:endParaRPr lang="en-US" altLang="en-US" sz="2400" dirty="0"/>
          </a:p>
          <a:p>
            <a:pPr lvl="1" eaLnBrk="1" hangingPunct="1">
              <a:buFontTx/>
              <a:buNone/>
            </a:pPr>
            <a:endParaRPr lang="en-US" altLang="en-US" sz="2400" dirty="0"/>
          </a:p>
          <a:p>
            <a:pPr lvl="1" eaLnBrk="1" hangingPunct="1">
              <a:buFontTx/>
              <a:buNone/>
            </a:pPr>
            <a:endParaRPr lang="en-US" altLang="en-US" sz="2400" dirty="0"/>
          </a:p>
          <a:p>
            <a:pPr lvl="1" eaLnBrk="1" hangingPunct="1">
              <a:buFontTx/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800" dirty="0"/>
              <a:t>Try this on your own in the studio, for practice</a:t>
            </a:r>
          </a:p>
          <a:p>
            <a:pPr lvl="1" eaLnBrk="1" hangingPunct="1">
              <a:buFontTx/>
              <a:buNone/>
            </a:pPr>
            <a:endParaRPr lang="en-US" altLang="en-US" sz="2400" dirty="0"/>
          </a:p>
        </p:txBody>
      </p:sp>
      <p:sp>
        <p:nvSpPr>
          <p:cNvPr id="8196" name="Oval 4">
            <a:extLst>
              <a:ext uri="{FF2B5EF4-FFF2-40B4-BE49-F238E27FC236}">
                <a16:creationId xmlns:a16="http://schemas.microsoft.com/office/drawing/2014/main" id="{D535CC7E-3F72-3464-7EF4-52ED9A1F5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6576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+</a:t>
            </a:r>
          </a:p>
        </p:txBody>
      </p:sp>
      <p:sp>
        <p:nvSpPr>
          <p:cNvPr id="8197" name="Oval 5">
            <a:extLst>
              <a:ext uri="{FF2B5EF4-FFF2-40B4-BE49-F238E27FC236}">
                <a16:creationId xmlns:a16="http://schemas.microsoft.com/office/drawing/2014/main" id="{38D01719-544B-958C-50B3-388B94472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+</a:t>
            </a:r>
          </a:p>
        </p:txBody>
      </p:sp>
      <p:sp>
        <p:nvSpPr>
          <p:cNvPr id="8198" name="Oval 6">
            <a:extLst>
              <a:ext uri="{FF2B5EF4-FFF2-40B4-BE49-F238E27FC236}">
                <a16:creationId xmlns:a16="http://schemas.microsoft.com/office/drawing/2014/main" id="{4C7CF7B9-C7F1-FEA3-BB24-3115AC5C4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2672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8199" name="Oval 7">
            <a:extLst>
              <a:ext uri="{FF2B5EF4-FFF2-40B4-BE49-F238E27FC236}">
                <a16:creationId xmlns:a16="http://schemas.microsoft.com/office/drawing/2014/main" id="{4C33A18C-944E-B53D-10E2-FCDDFC8D3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876800"/>
            <a:ext cx="5334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8200" name="Line 9">
            <a:extLst>
              <a:ext uri="{FF2B5EF4-FFF2-40B4-BE49-F238E27FC236}">
                <a16:creationId xmlns:a16="http://schemas.microsoft.com/office/drawing/2014/main" id="{FB03BD01-B369-2E3D-C189-E8D5346686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40386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Line 10">
            <a:extLst>
              <a:ext uri="{FF2B5EF4-FFF2-40B4-BE49-F238E27FC236}">
                <a16:creationId xmlns:a16="http://schemas.microsoft.com/office/drawing/2014/main" id="{68710798-1EA0-B0A1-753F-CFAA9D57FD67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971800" y="40386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Line 11">
            <a:extLst>
              <a:ext uri="{FF2B5EF4-FFF2-40B4-BE49-F238E27FC236}">
                <a16:creationId xmlns:a16="http://schemas.microsoft.com/office/drawing/2014/main" id="{664F79DB-6872-664C-D9FF-49E68943F8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46482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Line 12">
            <a:extLst>
              <a:ext uri="{FF2B5EF4-FFF2-40B4-BE49-F238E27FC236}">
                <a16:creationId xmlns:a16="http://schemas.microsoft.com/office/drawing/2014/main" id="{818820CD-E3E5-D71C-8822-12CBC95F7803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3657600" y="46482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Line 13">
            <a:extLst>
              <a:ext uri="{FF2B5EF4-FFF2-40B4-BE49-F238E27FC236}">
                <a16:creationId xmlns:a16="http://schemas.microsoft.com/office/drawing/2014/main" id="{439922C9-FC20-3F9A-2B97-5D3BDFBF74D7}"/>
              </a:ext>
            </a:extLst>
          </p:cNvPr>
          <p:cNvSpPr>
            <a:spLocks noChangeShapeType="1"/>
          </p:cNvSpPr>
          <p:nvPr/>
        </p:nvSpPr>
        <p:spPr bwMode="auto">
          <a:xfrm rot="18900000" flipH="1">
            <a:off x="2590800" y="3276600"/>
            <a:ext cx="304800" cy="304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Text Box 14">
            <a:extLst>
              <a:ext uri="{FF2B5EF4-FFF2-40B4-BE49-F238E27FC236}">
                <a16:creationId xmlns:a16="http://schemas.microsoft.com/office/drawing/2014/main" id="{430E49F6-AE6F-8A4B-DC71-E94155C3D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1242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8206" name="Text Box 15">
            <a:extLst>
              <a:ext uri="{FF2B5EF4-FFF2-40B4-BE49-F238E27FC236}">
                <a16:creationId xmlns:a16="http://schemas.microsoft.com/office/drawing/2014/main" id="{DE1A4638-7C83-9630-7484-2C50F1B2D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7338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8207" name="Text Box 16">
            <a:extLst>
              <a:ext uri="{FF2B5EF4-FFF2-40B4-BE49-F238E27FC236}">
                <a16:creationId xmlns:a16="http://schemas.microsoft.com/office/drawing/2014/main" id="{EB91A9B7-5463-E98E-0DBD-9DACC501C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7338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8208" name="Text Box 17">
            <a:extLst>
              <a:ext uri="{FF2B5EF4-FFF2-40B4-BE49-F238E27FC236}">
                <a16:creationId xmlns:a16="http://schemas.microsoft.com/office/drawing/2014/main" id="{C78D0468-8010-0BD7-1C4C-1F6FA08F5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4196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8209" name="Text Box 18">
            <a:extLst>
              <a:ext uri="{FF2B5EF4-FFF2-40B4-BE49-F238E27FC236}">
                <a16:creationId xmlns:a16="http://schemas.microsoft.com/office/drawing/2014/main" id="{924A087E-3A0C-33F8-8A18-B484624B6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4419600"/>
            <a:ext cx="731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???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81CABA-6C05-1471-F5CC-8D72C60C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20D1A"/>
                </a:solidFill>
              </a:rPr>
              <a:t>How the Program can Fail</a:t>
            </a:r>
          </a:p>
        </p:txBody>
      </p:sp>
      <p:sp>
        <p:nvSpPr>
          <p:cNvPr id="2" name="Footer Placeholder 48">
            <a:extLst>
              <a:ext uri="{FF2B5EF4-FFF2-40B4-BE49-F238E27FC236}">
                <a16:creationId xmlns:a16="http://schemas.microsoft.com/office/drawing/2014/main" id="{E7D33382-89CF-60F8-A163-16D03ACDB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276600" cy="501650"/>
          </a:xfrm>
        </p:spPr>
        <p:txBody>
          <a:bodyPr/>
          <a:lstStyle/>
          <a:p>
            <a:r>
              <a:rPr lang="en-US" dirty="0"/>
              <a:t>CSE 428S – Multi-Paradigm Programming  in C++</a:t>
            </a:r>
          </a:p>
        </p:txBody>
      </p:sp>
      <p:sp>
        <p:nvSpPr>
          <p:cNvPr id="3" name="Slide Number Placeholder 47">
            <a:extLst>
              <a:ext uri="{FF2B5EF4-FFF2-40B4-BE49-F238E27FC236}">
                <a16:creationId xmlns:a16="http://schemas.microsoft.com/office/drawing/2014/main" id="{BBE96F9C-91B1-C908-0C68-83261D9D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773B20C-5347-4FF9-A9F0-76F937F6021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5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EF6C8623-3475-E321-7AF1-58BF564FF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838200"/>
            <a:ext cx="8991600" cy="5334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Debug a program from its start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b="1" dirty="0">
                <a:latin typeface="Courier" pitchFamily="2" charset="0"/>
              </a:rPr>
              <a:t>bash&gt; </a:t>
            </a:r>
            <a:r>
              <a:rPr lang="en-US" altLang="en-US" b="1" dirty="0" err="1">
                <a:latin typeface="Courier" pitchFamily="2" charset="0"/>
              </a:rPr>
              <a:t>gdb</a:t>
            </a:r>
            <a:r>
              <a:rPr lang="en-US" altLang="en-US" b="1" dirty="0">
                <a:latin typeface="Courier" pitchFamily="2" charset="0"/>
              </a:rPr>
              <a:t> studio3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Set a breakpoint at a line or a function entry point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b="1" dirty="0">
                <a:latin typeface="Courier" pitchFamily="2" charset="0"/>
              </a:rPr>
              <a:t>(</a:t>
            </a:r>
            <a:r>
              <a:rPr lang="en-US" altLang="en-US" b="1" dirty="0" err="1">
                <a:latin typeface="Courier" pitchFamily="2" charset="0"/>
              </a:rPr>
              <a:t>gdb</a:t>
            </a:r>
            <a:r>
              <a:rPr lang="en-US" altLang="en-US" b="1" dirty="0">
                <a:latin typeface="Courier" pitchFamily="2" charset="0"/>
              </a:rPr>
              <a:t>) break </a:t>
            </a:r>
            <a:r>
              <a:rPr lang="en-US" b="1" dirty="0" err="1">
                <a:latin typeface="Courier" pitchFamily="2" charset="0"/>
              </a:rPr>
              <a:t>parse_and_compute</a:t>
            </a: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Start execution with command line parameters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b="1" dirty="0">
                <a:latin typeface="Courier" pitchFamily="2" charset="0"/>
              </a:rPr>
              <a:t>(</a:t>
            </a:r>
            <a:r>
              <a:rPr lang="en-US" altLang="en-US" b="1" dirty="0" err="1">
                <a:latin typeface="Courier" pitchFamily="2" charset="0"/>
              </a:rPr>
              <a:t>gdb</a:t>
            </a:r>
            <a:r>
              <a:rPr lang="en-US" altLang="en-US" b="1" dirty="0">
                <a:latin typeface="Courier" pitchFamily="2" charset="0"/>
              </a:rPr>
              <a:t>) run + + + + + + 1 2 4 8 16 32 64</a:t>
            </a: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Print out the value of an expression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b="1" dirty="0">
                <a:latin typeface="Courier" pitchFamily="2" charset="0"/>
              </a:rPr>
              <a:t>(</a:t>
            </a:r>
            <a:r>
              <a:rPr lang="en-US" altLang="en-US" b="1" dirty="0" err="1">
                <a:latin typeface="Courier" pitchFamily="2" charset="0"/>
              </a:rPr>
              <a:t>gdb</a:t>
            </a:r>
            <a:r>
              <a:rPr lang="en-US" altLang="en-US" b="1" dirty="0">
                <a:latin typeface="Courier" pitchFamily="2" charset="0"/>
              </a:rPr>
              <a:t>) print </a:t>
            </a:r>
            <a:r>
              <a:rPr lang="en-US" b="1" dirty="0" err="1">
                <a:latin typeface="Courier" pitchFamily="2" charset="0"/>
              </a:rPr>
              <a:t>argv</a:t>
            </a:r>
            <a:r>
              <a:rPr lang="en-US" b="1" dirty="0">
                <a:latin typeface="Courier" pitchFamily="2" charset="0"/>
              </a:rPr>
              <a:t>[</a:t>
            </a:r>
            <a:r>
              <a:rPr lang="en-US" b="1" dirty="0" err="1">
                <a:latin typeface="Courier" pitchFamily="2" charset="0"/>
              </a:rPr>
              <a:t>current_index</a:t>
            </a:r>
            <a:r>
              <a:rPr lang="en-US" b="1" dirty="0">
                <a:latin typeface="Courier" pitchFamily="2" charset="0"/>
              </a:rPr>
              <a:t>]</a:t>
            </a:r>
            <a:endParaRPr lang="en-US" altLang="en-US" b="1" dirty="0">
              <a:solidFill>
                <a:srgbClr val="CC0000"/>
              </a:solidFill>
              <a:latin typeface="Courier" pitchFamily="2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Continue execution until the next breakpoint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b="1" dirty="0">
                <a:latin typeface="Courier" pitchFamily="2" charset="0"/>
              </a:rPr>
              <a:t>(</a:t>
            </a:r>
            <a:r>
              <a:rPr lang="en-US" altLang="en-US" b="1" dirty="0" err="1">
                <a:latin typeface="Courier" pitchFamily="2" charset="0"/>
              </a:rPr>
              <a:t>gdb</a:t>
            </a:r>
            <a:r>
              <a:rPr lang="en-US" altLang="en-US" b="1" dirty="0">
                <a:latin typeface="Courier" pitchFamily="2" charset="0"/>
              </a:rPr>
              <a:t>) continue</a:t>
            </a:r>
            <a:endParaRPr lang="en-US" altLang="en-US" b="1" dirty="0">
              <a:solidFill>
                <a:srgbClr val="CC0000"/>
              </a:solidFill>
              <a:latin typeface="Courier" pitchFamily="2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Show the program’s call stack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b="1" dirty="0">
                <a:latin typeface="Courier" pitchFamily="2" charset="0"/>
              </a:rPr>
              <a:t>(</a:t>
            </a:r>
            <a:r>
              <a:rPr lang="en-US" altLang="en-US" b="1" dirty="0" err="1">
                <a:latin typeface="Courier" pitchFamily="2" charset="0"/>
              </a:rPr>
              <a:t>gdb</a:t>
            </a:r>
            <a:r>
              <a:rPr lang="en-US" altLang="en-US" b="1" dirty="0">
                <a:latin typeface="Courier" pitchFamily="2" charset="0"/>
              </a:rPr>
              <a:t>) where</a:t>
            </a:r>
            <a:endParaRPr lang="en-US" altLang="en-US" b="1" dirty="0">
              <a:solidFill>
                <a:srgbClr val="CC0000"/>
              </a:solidFill>
              <a:latin typeface="Courier" pitchFamily="2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Execute one line, stepping into any functions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b="1" dirty="0">
                <a:latin typeface="Courier" pitchFamily="2" charset="0"/>
              </a:rPr>
              <a:t>(</a:t>
            </a:r>
            <a:r>
              <a:rPr lang="en-US" altLang="en-US" b="1" dirty="0" err="1">
                <a:latin typeface="Courier" pitchFamily="2" charset="0"/>
              </a:rPr>
              <a:t>gdb</a:t>
            </a:r>
            <a:r>
              <a:rPr lang="en-US" altLang="en-US" b="1" dirty="0">
                <a:latin typeface="Courier" pitchFamily="2" charset="0"/>
              </a:rPr>
              <a:t>) step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Execute one line, stepping over any functions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b="1" dirty="0">
                <a:latin typeface="Courier" pitchFamily="2" charset="0"/>
              </a:rPr>
              <a:t>(</a:t>
            </a:r>
            <a:r>
              <a:rPr lang="en-US" altLang="en-US" b="1" dirty="0" err="1">
                <a:latin typeface="Courier" pitchFamily="2" charset="0"/>
              </a:rPr>
              <a:t>gdb</a:t>
            </a:r>
            <a:r>
              <a:rPr lang="en-US" altLang="en-US" b="1" dirty="0">
                <a:latin typeface="Courier" pitchFamily="2" charset="0"/>
              </a:rPr>
              <a:t>) next</a:t>
            </a:r>
            <a:endParaRPr lang="en-US" altLang="en-US" b="1" dirty="0">
              <a:solidFill>
                <a:srgbClr val="CC0000"/>
              </a:solidFill>
              <a:latin typeface="Courier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9C20AAC-EFD7-AC41-B8A5-90A50F455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20D1A"/>
                </a:solidFill>
              </a:rPr>
              <a:t>Essential </a:t>
            </a:r>
            <a:r>
              <a:rPr lang="en-US" b="1" dirty="0" err="1">
                <a:solidFill>
                  <a:srgbClr val="720D1A"/>
                </a:solidFill>
                <a:latin typeface="Courier" pitchFamily="2" charset="0"/>
              </a:rPr>
              <a:t>gdb</a:t>
            </a:r>
            <a:r>
              <a:rPr lang="en-US" dirty="0">
                <a:solidFill>
                  <a:srgbClr val="720D1A"/>
                </a:solidFill>
              </a:rPr>
              <a:t> Commands</a:t>
            </a:r>
          </a:p>
        </p:txBody>
      </p:sp>
      <p:sp>
        <p:nvSpPr>
          <p:cNvPr id="2" name="Footer Placeholder 48">
            <a:extLst>
              <a:ext uri="{FF2B5EF4-FFF2-40B4-BE49-F238E27FC236}">
                <a16:creationId xmlns:a16="http://schemas.microsoft.com/office/drawing/2014/main" id="{E581C2BC-814E-854D-6153-61D1A2A9B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276600" cy="501650"/>
          </a:xfrm>
        </p:spPr>
        <p:txBody>
          <a:bodyPr/>
          <a:lstStyle/>
          <a:p>
            <a:r>
              <a:rPr lang="en-US" dirty="0"/>
              <a:t>CSE 428S – Multi-Paradigm Programming  in C++</a:t>
            </a:r>
          </a:p>
        </p:txBody>
      </p:sp>
      <p:sp>
        <p:nvSpPr>
          <p:cNvPr id="3" name="Slide Number Placeholder 47">
            <a:extLst>
              <a:ext uri="{FF2B5EF4-FFF2-40B4-BE49-F238E27FC236}">
                <a16:creationId xmlns:a16="http://schemas.microsoft.com/office/drawing/2014/main" id="{A5DD4BE3-D9F2-9DBF-1F37-52211296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773B20C-5347-4FF9-A9F0-76F937F6021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EF6C8623-3475-E321-7AF1-58BF564FF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296400" cy="53340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Modify your </a:t>
            </a:r>
            <a:r>
              <a:rPr lang="en-US" altLang="en-US" b="1" dirty="0" err="1">
                <a:latin typeface="Courier" pitchFamily="2" charset="0"/>
              </a:rPr>
              <a:t>Makefile</a:t>
            </a:r>
            <a:r>
              <a:rPr lang="en-US" altLang="en-US" dirty="0"/>
              <a:t> (it passes </a:t>
            </a:r>
            <a:r>
              <a:rPr lang="en-US" altLang="en-US" b="1" dirty="0">
                <a:latin typeface="Courier" pitchFamily="2" charset="0"/>
              </a:rPr>
              <a:t>–g</a:t>
            </a:r>
            <a:r>
              <a:rPr lang="en-US" altLang="en-US" dirty="0"/>
              <a:t> switch to </a:t>
            </a:r>
            <a:r>
              <a:rPr lang="en-US" altLang="en-US" b="1" dirty="0">
                <a:latin typeface="Courier" pitchFamily="2" charset="0"/>
              </a:rPr>
              <a:t>g++)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b="1" dirty="0">
                <a:latin typeface="Courier" pitchFamily="2" charset="0"/>
              </a:rPr>
              <a:t>EXECUTABLE      = studio3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b="1" dirty="0">
                <a:latin typeface="Courier" pitchFamily="2" charset="0"/>
              </a:rPr>
              <a:t>CMPL_SRCS       = studio3.cpp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b="1" dirty="0">
                <a:latin typeface="Courier" pitchFamily="2" charset="0"/>
              </a:rPr>
              <a:t>HEADER_FILES    = studio3.h</a:t>
            </a:r>
            <a:endParaRPr lang="en-US" altLang="en-US" b="1" dirty="0">
              <a:latin typeface="Courier" pitchFamily="2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Compile the program via the </a:t>
            </a:r>
            <a:r>
              <a:rPr lang="en-US" altLang="en-US" b="1" dirty="0">
                <a:latin typeface="Courier" pitchFamily="2" charset="0"/>
              </a:rPr>
              <a:t>make</a:t>
            </a:r>
            <a:r>
              <a:rPr lang="en-US" altLang="en-US" dirty="0"/>
              <a:t> command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b="1" dirty="0">
                <a:latin typeface="Courier" pitchFamily="2" charset="0"/>
              </a:rPr>
              <a:t>g++ -o studio3 –DUNIX -Wall -W -g -std=</a:t>
            </a:r>
            <a:r>
              <a:rPr lang="en-US" b="1" dirty="0" err="1">
                <a:latin typeface="Courier" pitchFamily="2" charset="0"/>
              </a:rPr>
              <a:t>c++</a:t>
            </a:r>
            <a:r>
              <a:rPr lang="en-US" b="1" dirty="0">
                <a:latin typeface="Courier" pitchFamily="2" charset="0"/>
              </a:rPr>
              <a:t>17 studio3.cpp 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b="1" dirty="0">
              <a:latin typeface="Courier" pitchFamily="2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Open the source and header files in emacs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b="1" dirty="0">
                <a:latin typeface="Courier" pitchFamily="2" charset="0"/>
              </a:rPr>
              <a:t>emacs studio3.cpp studio3.h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b="1" dirty="0">
              <a:solidFill>
                <a:srgbClr val="CC0000"/>
              </a:solidFill>
              <a:latin typeface="Courier" pitchFamily="2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Activate </a:t>
            </a:r>
            <a:r>
              <a:rPr lang="en-US" altLang="en-US" b="1" dirty="0" err="1">
                <a:latin typeface="Courier" pitchFamily="2" charset="0"/>
              </a:rPr>
              <a:t>gdb</a:t>
            </a:r>
            <a:r>
              <a:rPr lang="en-US" altLang="en-US" dirty="0"/>
              <a:t> within </a:t>
            </a:r>
            <a:r>
              <a:rPr lang="en-US" altLang="en-US" b="1" dirty="0">
                <a:latin typeface="Courier" pitchFamily="2" charset="0"/>
              </a:rPr>
              <a:t>emacs</a:t>
            </a:r>
            <a:r>
              <a:rPr lang="en-US" altLang="en-US" dirty="0"/>
              <a:t> (Esc x </a:t>
            </a:r>
            <a:r>
              <a:rPr lang="en-US" altLang="en-US" dirty="0" err="1"/>
              <a:t>gdb</a:t>
            </a:r>
            <a:r>
              <a:rPr lang="en-US" altLang="en-US" dirty="0"/>
              <a:t>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b="1" dirty="0">
                <a:latin typeface="Courier" pitchFamily="2" charset="0"/>
              </a:rPr>
              <a:t>run </a:t>
            </a:r>
            <a:r>
              <a:rPr lang="en-US" b="1" dirty="0" err="1">
                <a:latin typeface="Courier" pitchFamily="2" charset="0"/>
              </a:rPr>
              <a:t>gdb</a:t>
            </a:r>
            <a:r>
              <a:rPr lang="en-US" b="1" dirty="0">
                <a:latin typeface="Courier" pitchFamily="2" charset="0"/>
              </a:rPr>
              <a:t> (like this): </a:t>
            </a:r>
            <a:r>
              <a:rPr lang="en-US" b="1" dirty="0" err="1">
                <a:latin typeface="Courier" pitchFamily="2" charset="0"/>
              </a:rPr>
              <a:t>gdb</a:t>
            </a:r>
            <a:r>
              <a:rPr lang="en-US" b="1" dirty="0">
                <a:latin typeface="Courier" pitchFamily="2" charset="0"/>
              </a:rPr>
              <a:t> -</a:t>
            </a:r>
            <a:r>
              <a:rPr lang="en-US" b="1" dirty="0" err="1">
                <a:latin typeface="Courier" pitchFamily="2" charset="0"/>
              </a:rPr>
              <a:t>i</a:t>
            </a:r>
            <a:r>
              <a:rPr lang="en-US" b="1" dirty="0">
                <a:latin typeface="Courier" pitchFamily="2" charset="0"/>
              </a:rPr>
              <a:t>=mi studio3</a:t>
            </a:r>
            <a:endParaRPr lang="en-US" altLang="en-US" b="1" dirty="0">
              <a:solidFill>
                <a:srgbClr val="CC0000"/>
              </a:solidFill>
              <a:latin typeface="Courier" pitchFamily="2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Use like in stand-alone </a:t>
            </a:r>
            <a:r>
              <a:rPr lang="en-US" altLang="en-US" b="1" dirty="0" err="1">
                <a:latin typeface="Courier" pitchFamily="2" charset="0"/>
              </a:rPr>
              <a:t>gdb</a:t>
            </a:r>
            <a:r>
              <a:rPr lang="en-US" altLang="en-US" b="1" dirty="0">
                <a:latin typeface="Courier" pitchFamily="2" charset="0"/>
              </a:rPr>
              <a:t> (</a:t>
            </a:r>
            <a:r>
              <a:rPr lang="en-US" altLang="en-US" dirty="0"/>
              <a:t>but with tab-completion!)</a:t>
            </a:r>
            <a:endParaRPr lang="en-US" b="1" dirty="0">
              <a:latin typeface="Courier" pitchFamily="2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b="1" dirty="0">
                <a:latin typeface="Courier" pitchFamily="2" charset="0"/>
              </a:rPr>
              <a:t>(</a:t>
            </a:r>
            <a:r>
              <a:rPr lang="en-US" b="1" dirty="0" err="1">
                <a:latin typeface="Courier" pitchFamily="2" charset="0"/>
              </a:rPr>
              <a:t>gdb</a:t>
            </a:r>
            <a:r>
              <a:rPr lang="en-US" b="1" dirty="0">
                <a:latin typeface="Courier" pitchFamily="2" charset="0"/>
              </a:rPr>
              <a:t>) break </a:t>
            </a:r>
            <a:r>
              <a:rPr lang="en-US" b="1" dirty="0" err="1">
                <a:latin typeface="Courier" pitchFamily="2" charset="0"/>
              </a:rPr>
              <a:t>parse_and_compute</a:t>
            </a:r>
            <a:r>
              <a:rPr lang="en-US" b="1" dirty="0">
                <a:latin typeface="Courier" pitchFamily="2" charset="0"/>
              </a:rPr>
              <a:t>(int&amp;, int, char**)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b="1" dirty="0">
                <a:latin typeface="Courier" pitchFamily="2" charset="0"/>
              </a:rPr>
              <a:t>(</a:t>
            </a:r>
            <a:r>
              <a:rPr lang="en-US" b="1" dirty="0" err="1">
                <a:latin typeface="Courier" pitchFamily="2" charset="0"/>
              </a:rPr>
              <a:t>gdb</a:t>
            </a:r>
            <a:r>
              <a:rPr lang="en-US" b="1" dirty="0">
                <a:latin typeface="Courier" pitchFamily="2" charset="0"/>
              </a:rPr>
              <a:t>) run + + 9 8 + 7 + 6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b="1" dirty="0">
                <a:latin typeface="Courier" pitchFamily="2" charset="0"/>
              </a:rPr>
              <a:t>(</a:t>
            </a:r>
            <a:r>
              <a:rPr lang="en-US" b="1" dirty="0" err="1">
                <a:latin typeface="Courier" pitchFamily="2" charset="0"/>
              </a:rPr>
              <a:t>gbd</a:t>
            </a:r>
            <a:r>
              <a:rPr lang="en-US" b="1" dirty="0">
                <a:latin typeface="Courier" pitchFamily="2" charset="0"/>
              </a:rPr>
              <a:t>) continue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b="1" dirty="0">
                <a:latin typeface="Courier" pitchFamily="2" charset="0"/>
              </a:rPr>
              <a:t>(</a:t>
            </a:r>
            <a:r>
              <a:rPr lang="en-US" b="1" dirty="0" err="1">
                <a:latin typeface="Courier" pitchFamily="2" charset="0"/>
              </a:rPr>
              <a:t>gdb</a:t>
            </a:r>
            <a:r>
              <a:rPr lang="en-US" b="1" dirty="0">
                <a:latin typeface="Courier" pitchFamily="2" charset="0"/>
              </a:rPr>
              <a:t>) where</a:t>
            </a:r>
            <a:endParaRPr lang="en-US" altLang="en-US" b="1" dirty="0">
              <a:latin typeface="Courier" pitchFamily="2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As you debug, emacs highlights the current code line!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9C20AAC-EFD7-AC41-B8A5-90A50F455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86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20D1A"/>
                </a:solidFill>
              </a:rPr>
              <a:t>Debugging with </a:t>
            </a:r>
            <a:r>
              <a:rPr lang="en-US" b="1" dirty="0">
                <a:solidFill>
                  <a:srgbClr val="720D1A"/>
                </a:solidFill>
                <a:latin typeface="Courier" pitchFamily="2" charset="0"/>
              </a:rPr>
              <a:t>g++ </a:t>
            </a:r>
            <a:r>
              <a:rPr lang="en-US" dirty="0">
                <a:solidFill>
                  <a:srgbClr val="720D1A"/>
                </a:solidFill>
              </a:rPr>
              <a:t>and </a:t>
            </a:r>
            <a:r>
              <a:rPr lang="en-US" b="1" dirty="0" err="1">
                <a:solidFill>
                  <a:srgbClr val="720D1A"/>
                </a:solidFill>
                <a:latin typeface="Courier" pitchFamily="2" charset="0"/>
              </a:rPr>
              <a:t>gdb</a:t>
            </a:r>
            <a:r>
              <a:rPr lang="en-US" b="1" dirty="0">
                <a:solidFill>
                  <a:srgbClr val="720D1A"/>
                </a:solidFill>
                <a:latin typeface="Courier" pitchFamily="2" charset="0"/>
              </a:rPr>
              <a:t> </a:t>
            </a:r>
            <a:r>
              <a:rPr lang="en-US" dirty="0">
                <a:solidFill>
                  <a:srgbClr val="720D1A"/>
                </a:solidFill>
              </a:rPr>
              <a:t>in </a:t>
            </a:r>
            <a:r>
              <a:rPr lang="en-US" b="1" dirty="0">
                <a:solidFill>
                  <a:srgbClr val="720D1A"/>
                </a:solidFill>
                <a:latin typeface="Courier" pitchFamily="2" charset="0"/>
              </a:rPr>
              <a:t>emacs</a:t>
            </a:r>
            <a:r>
              <a:rPr lang="en-US" dirty="0">
                <a:solidFill>
                  <a:srgbClr val="720D1A"/>
                </a:solidFill>
              </a:rPr>
              <a:t> </a:t>
            </a:r>
          </a:p>
        </p:txBody>
      </p:sp>
      <p:sp>
        <p:nvSpPr>
          <p:cNvPr id="2" name="Footer Placeholder 48">
            <a:extLst>
              <a:ext uri="{FF2B5EF4-FFF2-40B4-BE49-F238E27FC236}">
                <a16:creationId xmlns:a16="http://schemas.microsoft.com/office/drawing/2014/main" id="{1D688897-20A4-8072-E97C-8CC7F7D3F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276600" cy="501650"/>
          </a:xfrm>
        </p:spPr>
        <p:txBody>
          <a:bodyPr/>
          <a:lstStyle/>
          <a:p>
            <a:r>
              <a:rPr lang="en-US" dirty="0"/>
              <a:t>CSE 428S – Multi-Paradigm Programming  in C++</a:t>
            </a:r>
          </a:p>
        </p:txBody>
      </p:sp>
      <p:sp>
        <p:nvSpPr>
          <p:cNvPr id="3" name="Slide Number Placeholder 47">
            <a:extLst>
              <a:ext uri="{FF2B5EF4-FFF2-40B4-BE49-F238E27FC236}">
                <a16:creationId xmlns:a16="http://schemas.microsoft.com/office/drawing/2014/main" id="{1EC42338-6155-8444-C6B4-270489FB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773B20C-5347-4FF9-A9F0-76F937F6021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55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1CCF-5CF6-CA4F-A042-1957A838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720D1A"/>
                </a:solidFill>
              </a:rPr>
              <a:t>Studio 3</a:t>
            </a:r>
            <a:endParaRPr lang="en-US" dirty="0">
              <a:solidFill>
                <a:srgbClr val="720D1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41FFC-DF9C-DE49-9F6F-B2FBE0FE9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7800"/>
            <a:ext cx="8534400" cy="47244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Practice using </a:t>
            </a:r>
            <a:r>
              <a:rPr lang="en-US" b="1" dirty="0" err="1">
                <a:latin typeface="Courier" pitchFamily="2" charset="0"/>
              </a:rPr>
              <a:t>gdb</a:t>
            </a:r>
            <a:r>
              <a:rPr lang="en-US" dirty="0"/>
              <a:t> to observe a program’s behavior</a:t>
            </a:r>
          </a:p>
          <a:p>
            <a:pPr lvl="1"/>
            <a:endParaRPr lang="en-US" dirty="0"/>
          </a:p>
          <a:p>
            <a:r>
              <a:rPr lang="en-US" dirty="0"/>
              <a:t>Step/run through the program’s control flow</a:t>
            </a:r>
          </a:p>
          <a:p>
            <a:pPr lvl="1"/>
            <a:endParaRPr lang="en-US" dirty="0"/>
          </a:p>
          <a:p>
            <a:r>
              <a:rPr lang="en-US" dirty="0"/>
              <a:t>Print out important expressions at key points</a:t>
            </a:r>
          </a:p>
          <a:p>
            <a:pPr lvl="1"/>
            <a:endParaRPr lang="en-US" dirty="0"/>
          </a:p>
          <a:p>
            <a:r>
              <a:rPr lang="en-US" dirty="0"/>
              <a:t>Consider cases where program succeeds vs. fails</a:t>
            </a:r>
          </a:p>
          <a:p>
            <a:pPr lvl="1"/>
            <a:endParaRPr lang="en-US" dirty="0"/>
          </a:p>
          <a:p>
            <a:r>
              <a:rPr lang="en-US" dirty="0"/>
              <a:t>Studios 0 through 11 are due 11:59pm Monday October 16</a:t>
            </a:r>
            <a:r>
              <a:rPr lang="en-US" baseline="30000" dirty="0"/>
              <a:t>th</a:t>
            </a:r>
            <a:r>
              <a:rPr lang="en-US" dirty="0"/>
              <a:t> (the night before Exam 0)</a:t>
            </a:r>
          </a:p>
          <a:p>
            <a:pPr lvl="1"/>
            <a:r>
              <a:rPr lang="en-US" dirty="0"/>
              <a:t>Submit as soon as each is done so you get feedback</a:t>
            </a:r>
          </a:p>
          <a:p>
            <a:pPr lvl="1"/>
            <a:r>
              <a:rPr lang="en-US" dirty="0"/>
              <a:t>… and can resubmit any that may be marked incomplete</a:t>
            </a:r>
          </a:p>
        </p:txBody>
      </p:sp>
      <p:sp>
        <p:nvSpPr>
          <p:cNvPr id="4" name="Footer Placeholder 48">
            <a:extLst>
              <a:ext uri="{FF2B5EF4-FFF2-40B4-BE49-F238E27FC236}">
                <a16:creationId xmlns:a16="http://schemas.microsoft.com/office/drawing/2014/main" id="{7E9C60B2-4C1A-A50A-3545-03E3CB3C8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276600" cy="501650"/>
          </a:xfrm>
        </p:spPr>
        <p:txBody>
          <a:bodyPr/>
          <a:lstStyle/>
          <a:p>
            <a:r>
              <a:rPr lang="en-US" dirty="0"/>
              <a:t>CSE 428S – Multi-Paradigm Programming  in C++</a:t>
            </a:r>
          </a:p>
        </p:txBody>
      </p:sp>
      <p:sp>
        <p:nvSpPr>
          <p:cNvPr id="6" name="Slide Number Placeholder 47">
            <a:extLst>
              <a:ext uri="{FF2B5EF4-FFF2-40B4-BE49-F238E27FC236}">
                <a16:creationId xmlns:a16="http://schemas.microsoft.com/office/drawing/2014/main" id="{181F8318-18F1-E4A6-61AD-B7C52E74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773B20C-5347-4FF9-A9F0-76F937F6021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25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3193</TotalTime>
  <Words>841</Words>
  <Application>Microsoft Macintosh PowerPoint</Application>
  <PresentationFormat>On-screen Show (4:3)</PresentationFormat>
  <Paragraphs>161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Courier</vt:lpstr>
      <vt:lpstr>Courier New</vt:lpstr>
      <vt:lpstr>Georgia</vt:lpstr>
      <vt:lpstr>Times New Roman</vt:lpstr>
      <vt:lpstr>Verdana</vt:lpstr>
      <vt:lpstr>Office Theme</vt:lpstr>
      <vt:lpstr>E81 CSE 428S: Multi-Paradigm Programming in C++</vt:lpstr>
      <vt:lpstr>Control Flow Modifies State</vt:lpstr>
      <vt:lpstr>Why Debug a Program?</vt:lpstr>
      <vt:lpstr>How to Debug a Program</vt:lpstr>
      <vt:lpstr>An Example Program</vt:lpstr>
      <vt:lpstr>How the Program can Fail</vt:lpstr>
      <vt:lpstr>Essential gdb Commands</vt:lpstr>
      <vt:lpstr>Debugging with g++ and gdb in emacs </vt:lpstr>
      <vt:lpstr>Studio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david_n_laura</dc:creator>
  <cp:lastModifiedBy>Gill, Christopher</cp:lastModifiedBy>
  <cp:revision>144</cp:revision>
  <cp:lastPrinted>2022-08-29T15:07:01Z</cp:lastPrinted>
  <dcterms:created xsi:type="dcterms:W3CDTF">2016-01-21T02:03:40Z</dcterms:created>
  <dcterms:modified xsi:type="dcterms:W3CDTF">2023-09-07T17:45:28Z</dcterms:modified>
</cp:coreProperties>
</file>